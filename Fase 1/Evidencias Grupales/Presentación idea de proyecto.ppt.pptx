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9Y8c3Pn/HnlVUuec6LQHGgV9B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b5d1d3f7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2fb5d1d3f7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b5d1d3f7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2fb5d1d3f7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es un proyecto centrado en el desarrollo de una plataforma web para mejorar la gestión de pedidos en cafeterías. Nuestro enfoque abarca el desarrollo web, la gestión de bases de datos y la optimización de sistemas de información."</a:t>
            </a:r>
            <a:endParaRPr/>
          </a:p>
        </p:txBody>
      </p:sp>
      <p:sp>
        <p:nvSpPr>
          <p:cNvPr id="227" name="Google Shape;2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"El proyecto se basa en varias competencias clave: desarrollo de aplicaciones web, gestión de bases de datos, propuesta de soluciones informáticas, gestión de proyectos y pruebas de calidad. Cada una de estas competencias es esencial para el éxito de InfoCookies.</a:t>
            </a:r>
            <a:endParaRPr/>
          </a:p>
        </p:txBody>
      </p:sp>
      <p:sp>
        <p:nvSpPr>
          <p:cNvPr id="242" name="Google Shape;2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"El proyecto InfoCookies es relevante ya que mejora la eficiencia operativa en cafeterías. Desarrollaremos una plataforma web para optimizar el proceso de pedidos, que se alinea con el perfil de egreso y mis intereses profesionales en soluciones informáticas. El proyecto es factible dentro del plazo y con las herramientas disponibles."</a:t>
            </a:r>
            <a:endParaRPr/>
          </a:p>
        </p:txBody>
      </p:sp>
      <p:sp>
        <p:nvSpPr>
          <p:cNvPr id="250" name="Google Shape;2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Explicar el por que elegimos ágil</a:t>
            </a:r>
            <a:endParaRPr/>
          </a:p>
        </p:txBody>
      </p:sp>
      <p:sp>
        <p:nvSpPr>
          <p:cNvPr id="263" name="Google Shape;2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7" name="Google Shape;1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" name="Google Shape;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7" name="Google Shape;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8" name="Google Shape;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7" name="Google Shape;3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8" name="Google Shape;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4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4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4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7" name="Google Shape;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8" name="Google Shape;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8" name="Google Shape;5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9" name="Google Shape;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6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1" name="Google Shape;7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2" name="Google Shape;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80" name="Google Shape;8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6" name="Google Shape;8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7" name="Google Shape;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7" name="Google Shape;9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8" name="Google Shape;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8" name="Google Shape;10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9" name="Google Shape;1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9" name="Google Shape;11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9" name="Google Shape;12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s-CL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s-CL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2" name="Google Shape;14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3" name="Google Shape;1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2" name="Google Shape;1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3" name="Google Shape;1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2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2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1" name="Google Shape;161;p2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2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3" name="Google Shape;163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7" name="Google Shape;16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3" name="Google Shape;173;p2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4" name="Google Shape;174;p2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2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6" name="Google Shape;176;p2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7" name="Google Shape;177;p2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8" name="Google Shape;178;p2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2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80" name="Google Shape;180;p2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1" name="Google Shape;181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5" name="Google Shape;18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6" name="Google Shape;1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8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8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10" name="Google Shape;10;p11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type="ctrTitle"/>
          </p:nvPr>
        </p:nvSpPr>
        <p:spPr>
          <a:xfrm>
            <a:off x="1518082" y="2169927"/>
            <a:ext cx="7152441" cy="18516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s-CL"/>
              <a:t>InfoCookies</a:t>
            </a:r>
            <a:endParaRPr/>
          </a:p>
        </p:txBody>
      </p:sp>
      <p:sp>
        <p:nvSpPr>
          <p:cNvPr id="207" name="Google Shape;207;p1"/>
          <p:cNvSpPr txBox="1"/>
          <p:nvPr>
            <p:ph idx="1" type="subTitle"/>
          </p:nvPr>
        </p:nvSpPr>
        <p:spPr>
          <a:xfrm>
            <a:off x="8516921" y="5022465"/>
            <a:ext cx="358271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CL"/>
              <a:t>Nombre: Gabriel Muños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CL"/>
              <a:t>               Esteban Ramirez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CL"/>
              <a:t>Profesor: FABIAN ALVAREZ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colocaci%c3%b3n plana de galletas con chispas de chocolate blanco en la computadora del teclado" id="208" name="Google Shape;2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4749" y="2674715"/>
            <a:ext cx="2258337" cy="1508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b5d1d3f75_0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CL" sz="2100">
                <a:latin typeface="Arial"/>
                <a:ea typeface="Arial"/>
                <a:cs typeface="Arial"/>
                <a:sym typeface="Arial"/>
              </a:rPr>
              <a:t>La Cafetería Alas Coffee radica en la </a:t>
            </a:r>
            <a:r>
              <a:rPr b="1" lang="es-CL" sz="2100">
                <a:latin typeface="Arial"/>
                <a:ea typeface="Arial"/>
                <a:cs typeface="Arial"/>
                <a:sym typeface="Arial"/>
              </a:rPr>
              <a:t>ineficiencia en la gestión de pedidos y la comunicación entre meseros y cocina</a:t>
            </a:r>
            <a:r>
              <a:rPr lang="es-CL" sz="2100">
                <a:latin typeface="Arial"/>
                <a:ea typeface="Arial"/>
                <a:cs typeface="Arial"/>
                <a:sym typeface="Arial"/>
              </a:rPr>
              <a:t>. El proceso actual genera errores, retrasos en la entrega de pedidos y falta de coordinación, lo que afecta negativamente la experiencia del cliente y la eficiencia operativa del negocio. Sin un sistema integrado, es difícil optimizar estas áreas, lo que resulta en insatisfacción tanto para el personal como para los clientes.</a:t>
            </a:r>
            <a:endParaRPr sz="3400"/>
          </a:p>
        </p:txBody>
      </p:sp>
      <p:pic>
        <p:nvPicPr>
          <p:cNvPr descr="colocaci%c3%b3n plana de galletas con chispas de chocolate blanco en la computadora del teclado" id="214" name="Google Shape;214;g2fb5d1d3f7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1324" y="4976365"/>
            <a:ext cx="2258338" cy="150856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fb5d1d3f75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AlasCoffee</a:t>
            </a:r>
            <a:endParaRPr/>
          </a:p>
        </p:txBody>
      </p:sp>
      <p:pic>
        <p:nvPicPr>
          <p:cNvPr id="216" name="Google Shape;216;g2fb5d1d3f7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25" y="4742900"/>
            <a:ext cx="1680006" cy="10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b5d1d3f75_0_9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latin typeface="Arial"/>
                <a:ea typeface="Arial"/>
                <a:cs typeface="Arial"/>
                <a:sym typeface="Arial"/>
              </a:rPr>
              <a:t>Desarrollaremos una </a:t>
            </a:r>
            <a:r>
              <a:rPr b="1" lang="es-CL" sz="1500">
                <a:latin typeface="Arial"/>
                <a:ea typeface="Arial"/>
                <a:cs typeface="Arial"/>
                <a:sym typeface="Arial"/>
              </a:rPr>
              <a:t>plataforma web integrada</a:t>
            </a:r>
            <a:r>
              <a:rPr lang="es-CL" sz="1500">
                <a:latin typeface="Arial"/>
                <a:ea typeface="Arial"/>
                <a:cs typeface="Arial"/>
                <a:sym typeface="Arial"/>
              </a:rPr>
              <a:t> que optimice la gestión de pedidos y mejore la comunicación entre meseros y cocina. Esta plataforma incluirá: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s-CL" sz="1500">
                <a:latin typeface="Arial"/>
                <a:ea typeface="Arial"/>
                <a:cs typeface="Arial"/>
                <a:sym typeface="Arial"/>
              </a:rPr>
              <a:t>Interfaz Intuitiva</a:t>
            </a:r>
            <a:r>
              <a:rPr lang="es-CL" sz="1500">
                <a:latin typeface="Arial"/>
                <a:ea typeface="Arial"/>
                <a:cs typeface="Arial"/>
                <a:sym typeface="Arial"/>
              </a:rPr>
              <a:t>: Una interfaz de usuario fácil de usar que permite a los meseros asignar y gestionar pedidos de manera eficiente.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s-CL" sz="1500">
                <a:latin typeface="Arial"/>
                <a:ea typeface="Arial"/>
                <a:cs typeface="Arial"/>
                <a:sym typeface="Arial"/>
              </a:rPr>
              <a:t>Módulo de Cocina</a:t>
            </a:r>
            <a:r>
              <a:rPr lang="es-CL" sz="1500">
                <a:latin typeface="Arial"/>
                <a:ea typeface="Arial"/>
                <a:cs typeface="Arial"/>
                <a:sym typeface="Arial"/>
              </a:rPr>
              <a:t>: Un sistema en tiempo real para que la cocina reciba y actualice el estado de los pedidos, mejorando la coordinación.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s-CL" sz="1500">
                <a:latin typeface="Arial"/>
                <a:ea typeface="Arial"/>
                <a:cs typeface="Arial"/>
                <a:sym typeface="Arial"/>
              </a:rPr>
              <a:t>Base de Datos Centralizada</a:t>
            </a:r>
            <a:r>
              <a:rPr lang="es-CL" sz="1500">
                <a:latin typeface="Arial"/>
                <a:ea typeface="Arial"/>
                <a:cs typeface="Arial"/>
                <a:sym typeface="Arial"/>
              </a:rPr>
              <a:t>: Una base de datos que almacena y gestiona toda la información de pedidos, mesas y clientes, asegurando un flujo de trabajo fluido.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b="1" lang="es-CL" sz="1500">
                <a:latin typeface="Arial"/>
                <a:ea typeface="Arial"/>
                <a:cs typeface="Arial"/>
                <a:sym typeface="Arial"/>
              </a:rPr>
              <a:t>Pruebas de Usabilidad</a:t>
            </a:r>
            <a:r>
              <a:rPr lang="es-CL" sz="1500">
                <a:latin typeface="Arial"/>
                <a:ea typeface="Arial"/>
                <a:cs typeface="Arial"/>
                <a:sym typeface="Arial"/>
              </a:rPr>
              <a:t>: Garantizar que el sistema sea fácil de usar y minimizar el riesgo de errores operativos.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fb5d1d3f75_0_9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Solución</a:t>
            </a:r>
            <a:endParaRPr/>
          </a:p>
        </p:txBody>
      </p:sp>
      <p:pic>
        <p:nvPicPr>
          <p:cNvPr id="223" name="Google Shape;223;g2fb5d1d3f75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3550" y="5340900"/>
            <a:ext cx="1680006" cy="10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Información General del Proyecto</a:t>
            </a:r>
            <a:endParaRPr/>
          </a:p>
        </p:txBody>
      </p:sp>
      <p:sp>
        <p:nvSpPr>
          <p:cNvPr id="230" name="Google Shape;230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CL" sz="3200"/>
              <a:t>Áreas de Desempeño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L"/>
              <a:t>Desarrollo Web: Diseño y desarrollo de la interfaz y funcionalidades de la página web.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L"/>
              <a:t>Bases de Datos: Gestión de información de pedidos, mesas y estado de preparación.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L"/>
              <a:t>Sistemas de Información: Optimización de la comunicación y seguimiento de pedidos entre meseros y cocina.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L"/>
              <a:t>Tiempo: con una </a:t>
            </a:r>
            <a:r>
              <a:rPr lang="es-CL"/>
              <a:t>duración</a:t>
            </a:r>
            <a:r>
              <a:rPr lang="es-CL"/>
              <a:t> de 18 </a:t>
            </a:r>
            <a:r>
              <a:rPr lang="es-CL"/>
              <a:t>semanas trabajando en el proyecto de Lunes a Sabado en total seria 108 días de trabajo.</a:t>
            </a:r>
            <a:r>
              <a:rPr lang="es-CL"/>
              <a:t> </a:t>
            </a:r>
            <a:endParaRPr/>
          </a:p>
        </p:txBody>
      </p:sp>
      <p:pic>
        <p:nvPicPr>
          <p:cNvPr descr="calculadora y gráficos - desempeño laboral fotografías e imágenes de stock" id="231" name="Google Shape;2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4330" y="753228"/>
            <a:ext cx="1459065" cy="97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Objetivos</a:t>
            </a:r>
            <a:endParaRPr/>
          </a:p>
        </p:txBody>
      </p:sp>
      <p:sp>
        <p:nvSpPr>
          <p:cNvPr id="237" name="Google Shape;237;p6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CL"/>
              <a:t>1.Objetivo General: Crear una </a:t>
            </a:r>
            <a:r>
              <a:rPr lang="es-CL"/>
              <a:t>página</a:t>
            </a:r>
            <a:r>
              <a:rPr lang="es-CL"/>
              <a:t> web la cual </a:t>
            </a:r>
            <a:r>
              <a:rPr lang="es-CL"/>
              <a:t>optimiza el tiempo de respuesta entre los mesero y cocina, reducir el tiempo entre los pedidos de los cliente así evitando posibles problemas de demora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CL"/>
              <a:t>2.Objetivos Específicos: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CL"/>
              <a:t>Diseñar una interfaz intuitiva.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CL"/>
              <a:t>Implementar asignación de pedidos a mesas.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CL"/>
              <a:t>Desarrollar un módulo para cocina.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CL"/>
              <a:t>Integrar una base de datos.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CL"/>
              <a:t>Realizar pruebas de usabilidad.</a:t>
            </a:r>
            <a:endParaRPr/>
          </a:p>
        </p:txBody>
      </p:sp>
      <p:pic>
        <p:nvPicPr>
          <p:cNvPr descr="mujer joven escribiendo en post it en la oficina - objetivos fotografías e imágenes de stock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2026" y="3777474"/>
            <a:ext cx="3684125" cy="24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Competencias </a:t>
            </a:r>
            <a:endParaRPr/>
          </a:p>
        </p:txBody>
      </p:sp>
      <p:sp>
        <p:nvSpPr>
          <p:cNvPr id="245" name="Google Shape;245;p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Desarrollo de Aplicaciones Web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Modelado y Gestión de Bases de Datos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Propuesta y Desarrollo de Soluciones Informáticas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Gestión de Proyectos Informáticos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Pruebas de Calidad</a:t>
            </a:r>
            <a:endParaRPr/>
          </a:p>
        </p:txBody>
      </p:sp>
      <p:pic>
        <p:nvPicPr>
          <p:cNvPr descr="este espacio de oficinas está lleno de productividad - competencias fotografías e imágenes de stock" id="246" name="Google Shape;2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5876" y="3703625"/>
            <a:ext cx="4560277" cy="3037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Fundamentación del Proyecto</a:t>
            </a:r>
            <a:endParaRPr/>
          </a:p>
        </p:txBody>
      </p:sp>
      <p:sp>
        <p:nvSpPr>
          <p:cNvPr id="253" name="Google Shape;253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Relevancia: Mejora la eficiencia operativa y la satisfacción del cliente en cafeterías.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Descripción: Plataforma web para tomar pedidos en tablets y gestionar la comunicación entre meseros y cocina.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Pertinencia: Relación con el perfil de egreso al desarrollar habilidades en web, bases de datos y soluciones informáticas.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Relación con Intereses Profesionales: Contribuye al desarrollo profesional en soluciones informáticas.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Factibilidad</a:t>
            </a:r>
            <a:br>
              <a:rPr lang="es-CL"/>
            </a:br>
            <a:endParaRPr/>
          </a:p>
        </p:txBody>
      </p:sp>
      <p:sp>
        <p:nvSpPr>
          <p:cNvPr id="259" name="Google Shape;259;p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Técnica: Contamos con la tecnología y habilidades necesarias para desarrollar e implementar la plataforma web.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Económica: El presupuesto disponible cubre los costos de desarrollo, implementación y mantenimiento del sistema.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Operativa: El personal puede ser capacitado fácilmente para usar la plataforma, y el sistema mejorará la eficiencia operativa sin interrumpir las operaciones diarias.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Metodología Ágil SCRUM</a:t>
            </a:r>
            <a:endParaRPr/>
          </a:p>
        </p:txBody>
      </p:sp>
      <p:sp>
        <p:nvSpPr>
          <p:cNvPr id="266" name="Google Shape;266;p7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654">
                <a:latin typeface="Arial"/>
                <a:ea typeface="Arial"/>
                <a:cs typeface="Arial"/>
                <a:sym typeface="Arial"/>
              </a:rPr>
              <a:t>Usaremos la metodología ágil no solo por que nos sintamos 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cómodos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o porque 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hayamos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trabajado antes con 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ella la elegimos por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las siguientes razones específicas para el proyecto de la Cafetería Alas Coffee:</a:t>
            </a:r>
            <a:endParaRPr sz="1654">
              <a:latin typeface="Arial"/>
              <a:ea typeface="Arial"/>
              <a:cs typeface="Arial"/>
              <a:sym typeface="Arial"/>
            </a:endParaRPr>
          </a:p>
          <a:p>
            <a:pPr indent="-3179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s-CL" sz="1654">
                <a:latin typeface="Arial"/>
                <a:ea typeface="Arial"/>
                <a:cs typeface="Arial"/>
                <a:sym typeface="Arial"/>
              </a:rPr>
              <a:t>Adaptación a Cambios: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El entorno de trabajo en una cafetería puede cambiar rápidamente, y los requisitos pueden evolucionar en función de la retroalimentación del personal y los clientes. </a:t>
            </a:r>
            <a:endParaRPr sz="1654">
              <a:latin typeface="Arial"/>
              <a:ea typeface="Arial"/>
              <a:cs typeface="Arial"/>
              <a:sym typeface="Arial"/>
            </a:endParaRPr>
          </a:p>
          <a:p>
            <a:pPr indent="-3179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s-CL" sz="1654">
                <a:latin typeface="Arial"/>
                <a:ea typeface="Arial"/>
                <a:cs typeface="Arial"/>
                <a:sym typeface="Arial"/>
              </a:rPr>
              <a:t>Entrega Continua de Valor: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La metodología ágil facilita la entrega de incrementos funcionales del sistema en cada sprint. Esto permite a la cafetería empezar a usar partes del sistema más pronto y beneficiarse de mejoras continuas.</a:t>
            </a:r>
            <a:endParaRPr sz="1654">
              <a:latin typeface="Arial"/>
              <a:ea typeface="Arial"/>
              <a:cs typeface="Arial"/>
              <a:sym typeface="Arial"/>
            </a:endParaRPr>
          </a:p>
          <a:p>
            <a:pPr indent="-3179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s-CL" sz="1654">
                <a:latin typeface="Arial"/>
                <a:ea typeface="Arial"/>
                <a:cs typeface="Arial"/>
                <a:sym typeface="Arial"/>
              </a:rPr>
              <a:t>Retroalimentación Temprana y Constante: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Podemos obtener retroalimentación continua del cliente. Esto ayuda a garantizar que el producto final cumpla con sus expectativas y resuelva problemas específicos a medida que surgen.</a:t>
            </a:r>
            <a:endParaRPr sz="1654">
              <a:latin typeface="Arial"/>
              <a:ea typeface="Arial"/>
              <a:cs typeface="Arial"/>
              <a:sym typeface="Arial"/>
            </a:endParaRPr>
          </a:p>
          <a:p>
            <a:pPr indent="-3179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s-CL" sz="1654">
                <a:latin typeface="Arial"/>
                <a:ea typeface="Arial"/>
                <a:cs typeface="Arial"/>
                <a:sym typeface="Arial"/>
              </a:rPr>
              <a:t>Mejor Gestión de Riesgos: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Nos permite identificar y abordar problemas a medida que surgen durante el desarrollo. Esto reduce el riesgo de grandes fallos al final del proyecto, ya que los problemas se solucionan de manera incremental.</a:t>
            </a:r>
            <a:endParaRPr sz="1654">
              <a:latin typeface="Arial"/>
              <a:ea typeface="Arial"/>
              <a:cs typeface="Arial"/>
              <a:sym typeface="Arial"/>
            </a:endParaRPr>
          </a:p>
          <a:p>
            <a:pPr indent="-3179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s-CL" sz="1654">
                <a:latin typeface="Arial"/>
                <a:ea typeface="Arial"/>
                <a:cs typeface="Arial"/>
                <a:sym typeface="Arial"/>
              </a:rPr>
              <a:t>Colaboración Cercana:</a:t>
            </a:r>
            <a:r>
              <a:rPr lang="es-CL" sz="1654">
                <a:latin typeface="Arial"/>
                <a:ea typeface="Arial"/>
                <a:cs typeface="Arial"/>
                <a:sym typeface="Arial"/>
              </a:rPr>
              <a:t> Esto asegura que todos los involucrados estén alineados con los objetivos del proyecto y puedan trabajar juntos para resolver cualquier desafío.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Plan de Trabajo</a:t>
            </a:r>
            <a:endParaRPr/>
          </a:p>
        </p:txBody>
      </p:sp>
      <p:sp>
        <p:nvSpPr>
          <p:cNvPr id="272" name="Google Shape;272;p8"/>
          <p:cNvSpPr txBox="1"/>
          <p:nvPr>
            <p:ph idx="1" type="body"/>
          </p:nvPr>
        </p:nvSpPr>
        <p:spPr>
          <a:xfrm>
            <a:off x="680325" y="2330000"/>
            <a:ext cx="53508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Iniciación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 del Proyecto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Análisis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 del Caso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Visión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 del Proyecto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Definición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 del Squad y Responsabilidades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Mapa Mental y Mapa de Actores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Revisión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 de Requisitos y 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Priorización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Planificación</a:t>
            </a: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 del Producto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Epicas y Historias de Usuario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Impact Mapping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Product Backlog Priorizado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User Story Mapping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Sprint Planning para Sprints 1 y 2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s-CL" sz="1600">
                <a:latin typeface="Arial"/>
                <a:ea typeface="Arial"/>
                <a:cs typeface="Arial"/>
                <a:sym typeface="Arial"/>
              </a:rPr>
              <a:t>Sprint Backlog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031125" y="2178650"/>
            <a:ext cx="58248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s-CL" sz="1600">
                <a:solidFill>
                  <a:schemeClr val="lt1"/>
                </a:solidFill>
              </a:rPr>
              <a:t>Desarrollo y Entregas Iterativas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Sprint 1 Configuración Inicial y Funcionalidades Básicas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Sprint 2 Menú Completo y Gestión de Productos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Sprint 3 Sistema de Reservas y Pedidos en Línea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Sprint 4 Gestión de Usuarios y Opiniones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s-CL" sz="1600">
                <a:solidFill>
                  <a:schemeClr val="lt1"/>
                </a:solidFill>
              </a:rPr>
              <a:t>Entrega y Cierre del Proyecto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Release Management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Documentación Técnica y Manual de Usuario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Pruebas de Aceptación por el Usuario (UAT)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Reunión de Sincronización con el Cliente</a:t>
            </a:r>
            <a:endParaRPr b="1" sz="1600">
              <a:solidFill>
                <a:schemeClr val="lt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b="1" lang="es-CL" sz="1600">
                <a:solidFill>
                  <a:schemeClr val="lt1"/>
                </a:solidFill>
              </a:rPr>
              <a:t>Revisión y Ajustes Finales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b="1" lang="es-CL" sz="1600">
                <a:solidFill>
                  <a:schemeClr val="lt1"/>
                </a:solidFill>
              </a:rPr>
              <a:t>Retrospectiva Final del Proyecto</a:t>
            </a:r>
            <a:endParaRPr b="1" sz="1600">
              <a:solidFill>
                <a:schemeClr val="lt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b="1" lang="es-CL" sz="1600">
                <a:solidFill>
                  <a:schemeClr val="lt1"/>
                </a:solidFill>
              </a:rPr>
              <a:t>Cierre del Proyecto</a:t>
            </a:r>
            <a:endParaRPr b="1" sz="1600">
              <a:solidFill>
                <a:schemeClr val="lt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b="1" lang="es-CL" sz="1600">
                <a:solidFill>
                  <a:schemeClr val="lt1"/>
                </a:solidFill>
              </a:rPr>
              <a:t>Soporte y Mantenimiento Inicial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Evidencias </a:t>
            </a:r>
            <a:endParaRPr/>
          </a:p>
        </p:txBody>
      </p:sp>
      <p:sp>
        <p:nvSpPr>
          <p:cNvPr id="279" name="Google Shape;279;p9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L"/>
              <a:t>Análisis del Caso: Análisis del caso como se abordar la problemática planteada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L"/>
              <a:t>Squad y responsabilidades: Asignación de roles 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L"/>
              <a:t>Visión del Proyecto Visión de los objetivos del proyecto a desarrollar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/>
              <a:t>Conclusión</a:t>
            </a:r>
            <a:endParaRPr/>
          </a:p>
        </p:txBody>
      </p:sp>
      <p:sp>
        <p:nvSpPr>
          <p:cNvPr id="285" name="Google Shape;285;p1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Desarrollaremos una plataforma web para optimizar la gestión de pedidos en una cafetería, mejorando la comunicación entre meseros y cocina. Con una interfaz intuitiva y una base de datos integrada, nuestro enfoque ágil con Scrum asegura una solución eficaz y adaptada a las necesidades del cliente. El resultado será una herramienta que facilita el servicio y aumenta la satisfacción del cliente.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rlín">
  <a:themeElements>
    <a:clrScheme name="Berlí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2024-09-02T18:26:36Z</dcterms:created>
  <dc:creator>ESTEBAN . RAMIREZ DEVIA</dc:creator>
</cp:coreProperties>
</file>